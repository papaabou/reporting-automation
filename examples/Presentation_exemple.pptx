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 N</c:v>
                </c:pt>
              </c:strCache>
            </c:strRef>
          </c:tx>
          <c:spPr>
            <a:solidFill>
              <a:srgbClr val="1D6A96"/>
            </a:solidFill>
          </c:spPr>
          <c:cat>
            <c:strRef>
              <c:f>Sheet1!$A$2:$A$13</c:f>
              <c:strCache>
                <c:ptCount val="12"/>
                <c:pt idx="0">
                  <c:v>Avr</c:v>
                </c:pt>
                <c:pt idx="1">
                  <c:v>Mai</c:v>
                </c:pt>
                <c:pt idx="2">
                  <c:v>Juin</c:v>
                </c:pt>
                <c:pt idx="3">
                  <c:v>Juil</c:v>
                </c:pt>
                <c:pt idx="4">
                  <c:v>Août</c:v>
                </c:pt>
                <c:pt idx="5">
                  <c:v>Sept</c:v>
                </c:pt>
                <c:pt idx="6">
                  <c:v>Oct</c:v>
                </c:pt>
                <c:pt idx="7">
                  <c:v>Nov</c:v>
                </c:pt>
                <c:pt idx="8">
                  <c:v>Déc</c:v>
                </c:pt>
                <c:pt idx="9">
                  <c:v>Janv</c:v>
                </c:pt>
                <c:pt idx="10">
                  <c:v>Févr</c:v>
                </c:pt>
                <c:pt idx="11">
                  <c:v>Mars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162242.0</c:v>
                </c:pt>
                <c:pt idx="1">
                  <c:v>172993.0</c:v>
                </c:pt>
                <c:pt idx="2">
                  <c:v>183474.0</c:v>
                </c:pt>
                <c:pt idx="3">
                  <c:v>198448.0</c:v>
                </c:pt>
                <c:pt idx="4">
                  <c:v>205680.0</c:v>
                </c:pt>
                <c:pt idx="5">
                  <c:v>236345.0</c:v>
                </c:pt>
                <c:pt idx="6">
                  <c:v>167012.0</c:v>
                </c:pt>
                <c:pt idx="7">
                  <c:v>198688.0</c:v>
                </c:pt>
                <c:pt idx="8">
                  <c:v>202214.0</c:v>
                </c:pt>
                <c:pt idx="9">
                  <c:v>200831.0</c:v>
                </c:pt>
                <c:pt idx="10">
                  <c:v>206794.0</c:v>
                </c:pt>
                <c:pt idx="11">
                  <c:v>215586.0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Ventes N</c:v>
                </c:pt>
              </c:strCache>
            </c:strRef>
          </c:tx>
          <c:spPr>
            <a:solidFill>
              <a:srgbClr val="D9640E"/>
            </a:solidFill>
          </c:spPr>
          <c:cat>
            <c:strRef>
              <c:f>Sheet1!$A$2:$A$13</c:f>
              <c:strCache>
                <c:ptCount val="12"/>
                <c:pt idx="0">
                  <c:v>Avr</c:v>
                </c:pt>
                <c:pt idx="1">
                  <c:v>Mai</c:v>
                </c:pt>
                <c:pt idx="2">
                  <c:v>Juin</c:v>
                </c:pt>
                <c:pt idx="3">
                  <c:v>Juil</c:v>
                </c:pt>
                <c:pt idx="4">
                  <c:v>Août</c:v>
                </c:pt>
                <c:pt idx="5">
                  <c:v>Sept</c:v>
                </c:pt>
                <c:pt idx="6">
                  <c:v>Oct</c:v>
                </c:pt>
                <c:pt idx="7">
                  <c:v>Nov</c:v>
                </c:pt>
                <c:pt idx="8">
                  <c:v>Déc</c:v>
                </c:pt>
                <c:pt idx="9">
                  <c:v>Janv</c:v>
                </c:pt>
                <c:pt idx="10">
                  <c:v>Févr</c:v>
                </c:pt>
                <c:pt idx="11">
                  <c:v>Mars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169252.0</c:v>
                </c:pt>
                <c:pt idx="1">
                  <c:v>169612.0</c:v>
                </c:pt>
                <c:pt idx="2">
                  <c:v>166640.0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Ventes N-1</c:v>
                </c:pt>
              </c:strCache>
            </c:strRef>
          </c:tx>
          <c:spPr>
            <a:solidFill>
              <a:srgbClr val="9AA8B2"/>
            </a:solidFill>
          </c:spPr>
          <c:cat>
            <c:strRef>
              <c:f>Sheet1!$A$2:$A$13</c:f>
              <c:strCache>
                <c:ptCount val="12"/>
                <c:pt idx="0">
                  <c:v>Avr</c:v>
                </c:pt>
                <c:pt idx="1">
                  <c:v>Mai</c:v>
                </c:pt>
                <c:pt idx="2">
                  <c:v>Juin</c:v>
                </c:pt>
                <c:pt idx="3">
                  <c:v>Juil</c:v>
                </c:pt>
                <c:pt idx="4">
                  <c:v>Août</c:v>
                </c:pt>
                <c:pt idx="5">
                  <c:v>Sept</c:v>
                </c:pt>
                <c:pt idx="6">
                  <c:v>Oct</c:v>
                </c:pt>
                <c:pt idx="7">
                  <c:v>Nov</c:v>
                </c:pt>
                <c:pt idx="8">
                  <c:v>Déc</c:v>
                </c:pt>
                <c:pt idx="9">
                  <c:v>Janv</c:v>
                </c:pt>
                <c:pt idx="10">
                  <c:v>Févr</c:v>
                </c:pt>
                <c:pt idx="11">
                  <c:v>Mars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150224.0</c:v>
                </c:pt>
                <c:pt idx="1">
                  <c:v>160179.0</c:v>
                </c:pt>
                <c:pt idx="2">
                  <c:v>169883.0</c:v>
                </c:pt>
                <c:pt idx="3">
                  <c:v>183748.0</c:v>
                </c:pt>
                <c:pt idx="4">
                  <c:v>190444.0</c:v>
                </c:pt>
                <c:pt idx="5">
                  <c:v>218838.0</c:v>
                </c:pt>
                <c:pt idx="6">
                  <c:v>154641.0</c:v>
                </c:pt>
                <c:pt idx="7">
                  <c:v>183971.0</c:v>
                </c:pt>
                <c:pt idx="8">
                  <c:v>187235.0</c:v>
                </c:pt>
                <c:pt idx="9">
                  <c:v>185954.0</c:v>
                </c:pt>
                <c:pt idx="10">
                  <c:v>191475.0</c:v>
                </c:pt>
                <c:pt idx="11">
                  <c:v>199616.0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Rapport des ventes</a:t>
            </a:r>
          </a:p>
          <a:p>
            <a:r>
              <a:rPr sz="2400">
                <a:solidFill>
                  <a:srgbClr val="F0A868"/>
                </a:solidFill>
                <a:latin typeface="Arial"/>
              </a:rPr>
              <a:t>Rapport mensuel · Juin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C5D"/>
                </a:solidFill>
                <a:latin typeface="Arial"/>
              </a:rPr>
              <a:t>Indicateurs clés — Juin 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/>
            <a:r>
              <a:rPr sz="2200" b="1">
                <a:solidFill>
                  <a:srgbClr val="0B3C5D"/>
                </a:solidFill>
                <a:latin typeface="Arial"/>
              </a:rPr>
              <a:t>166 640 €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Arial"/>
              </a:rPr>
              <a:t>Ventes du mois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52928" y="192024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/>
            <a:r>
              <a:rPr sz="2200" b="1">
                <a:solidFill>
                  <a:srgbClr val="D9640E"/>
                </a:solidFill>
                <a:latin typeface="Arial"/>
              </a:rPr>
              <a:t>90,8 %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Arial"/>
              </a:rPr>
              <a:t>Réalisation du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192024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/>
            <a:r>
              <a:rPr sz="2200" b="1">
                <a:solidFill>
                  <a:srgbClr val="0B3C5D"/>
                </a:solidFill>
                <a:latin typeface="Arial"/>
              </a:rPr>
              <a:t>505 504 €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Arial"/>
              </a:rPr>
              <a:t>Ventes cumulées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504" y="192024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/>
            <a:r>
              <a:rPr sz="2200" b="1">
                <a:solidFill>
                  <a:srgbClr val="D9640E"/>
                </a:solidFill>
                <a:latin typeface="Arial"/>
              </a:rPr>
              <a:t>97,5 %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Arial"/>
              </a:rPr>
              <a:t>Réalisation cumulée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5792" y="192024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/>
            <a:r>
              <a:rPr sz="2200" b="1">
                <a:solidFill>
                  <a:srgbClr val="1E7B4D"/>
                </a:solidFill>
                <a:latin typeface="Arial"/>
              </a:rPr>
              <a:t>+5,3 %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Arial"/>
              </a:rPr>
              <a:t>Croissance vs N-1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C5D"/>
                </a:solidFill>
                <a:latin typeface="Arial"/>
              </a:rPr>
              <a:t>Ventes mensuelles vs budget (€)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C5D"/>
                </a:solidFill>
                <a:latin typeface="Arial"/>
              </a:rPr>
              <a:t>Performance par équipe — Juin 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Équipe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Ventes N-1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Ventes 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Réalisation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Croissance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Nord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141 613 €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152 942 €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138 293 €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90,4 %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-2,3 %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Sud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118 160 €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127 613 €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132 931 €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104,2 %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+12,5 %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97 240 €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105 019 €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106 523 €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101,4 %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+9,5 %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Ouest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66 279 €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71 581 €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62 124 €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86,8 %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-6,3 %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Centre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80 596 €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87 044 €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91 754 €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105,4 %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+13,8 %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Grands comptes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102 759 €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110 980 €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104 792 €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94,4 %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+2,0 %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C5D"/>
                </a:solidFill>
                <a:latin typeface="Arial"/>
              </a:rPr>
              <a:t>Top 10 produits (ventes 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4828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389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Produit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Ventes N-1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Ventes 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Gamma Forte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86 412 €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80 011 €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94 343 €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Theta Max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68 534 €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63 457 €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75 787 €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Iota Sirop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60 309 €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55 842 €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69 367 €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Zeta 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76 217 €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70 571 €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65 607 €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Lambda Night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62 154 €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57 550 €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64 140 €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Beta Plus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71 193 €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65 920 €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63 906 €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Beta Kids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60 430 €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55 954 €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61 039 €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Gamme Alpha 50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61 393 €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56 845 €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60 243 €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Mu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50 216 €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46 496 €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57 045 €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2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Eta Duo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53 046 €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49 117 €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43 269 €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C5D"/>
                </a:solidFill>
                <a:latin typeface="Arial"/>
              </a:rPr>
              <a:t>Stock &amp; commandes par grossiste — Juin 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03120" y="1645920"/>
          <a:ext cx="795527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1988819"/>
                <a:gridCol w="1988819"/>
                <a:gridCol w="1988822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Grossiste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Ventes (Un)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Stock (Un)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Commandes en attente (Un)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Distrib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6 219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12 577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2 124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Distrib B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6 327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11 220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2 074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Distrib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5 287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9 604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1 816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Distrib 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9 715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9 297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A1A1A"/>
                          </a:solidFill>
                          <a:latin typeface="Arial"/>
                        </a:defRPr>
                      </a:pPr>
                      <a:r>
                        <a:t>1 687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